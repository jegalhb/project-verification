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안녕하십니까. 공간정보 사업 제안 및 기획 부문에 지원한 제가링입니다. 국가가 개방한 공간정보 API를 활용해 공공사업을 기획하고, 그 실현 가능성을 직접 검증한 사례를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공고에 적힌 담당업무 네 가지가 이 프로젝트 한 건에 모두 들어 있습니다. 왼쪽이 공고 문구, 오른쪽이 제가 실제로 한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사업 자체를 분석했습니다. 규모와 지원 내용보다 중요한 건 운영구조가 드러내는 평가 축이었습니다. 세 가지를 도출했고, 이후 모든 판단의 기준으로 삼았습니다.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프로세스는 다섯 단계였습니다. 특히 4단계에 가장 많은 시간을 썼습니다. 좋은 아이디어여도 데이터가 없으면 제안서는 공허해지기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창업자가 점포 하나를 계약하려면 여섯 가지를 확인해야 하는데 소관 부처가 전부 다릅니다. 이 부처 경계가 곧 민간의 기회라고 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분석은 자료 조사로 끝내지 않고 실제 필지를 넣어 서비스를 돌려봤습니다. 그 결과 제 가설이 틀렸다는 걸 확인했고, 제안 방향을 바꿨습니다.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필지에 대해 기존 서비스가 답하는 항목과 답하지 못하는 항목을 갈랐습니다. 위 두 줄은 이미 되는 것이므로 제안에서 제외했고, 아래 네 줄에 집중했습니다.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공간정보를 다룰 때 좌표계는 첫 관문입니다. 네 가지 해석을 수치로 비교했는데, 가장 위험한 값은 100킬로미터가 아니라 363미터였습니다. 오류가 겉으로 드러나지 않기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필요한 데이터 열 계층을 확보 가능성으로 분류했습니다. 중요한 건 불가 판정 두 건을 숨기지 않은 것입니다. 제안서에서 안 되는 것을 되는 것처럼 쓰면 실행 단계에서 반드시 문제가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법령을 요건으로 바꾸는 과정에서 실패 유형 세 가지를 먼저 찾았습니다. 세 유형 모두 해석의 문제가 아니라 수집 범위의 문제였고, 이것이 설계를 결정했습니다.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강한 발견은 오수정화시설이었습니다. 용량이 모자라면 영업신고 자체가 불가능한데, 계약 전에 알려주는 서비스가 없습니다. 그런데 건축HUB API로 조회가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핵심은 AI에게 법 해석을 맡기지 않는 것입니다. 수집과 판정은 결정론적으로 처리하고, AI는 번역과 설명만 담당합니다. 공공 도메인에서는 이 구분이 필수라고 판단했습니다.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산출물을 스스로 다시 검증해 오류 여덟 건을 찾아 정정했습니다. 여섯 건을 추렸습니다. 제안 단계에서 잡으면 정정이지만 실행 단계에서 드러나면 사업 리스크가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공고에 적힌 핵심역량 다섯 가지를 이 프로젝트의 어느 국면과 대응시킬 수 있는지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입사 후 기여하고 싶은 지점입니다. 특히 좌표계 정합성과 건축물대장 속성 결합은 귀사의 디지털트윈·항공측량 사업과 직접 맞닿아 있다고 생각합니다.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463040"/>
            <a:ext cx="4937760" cy="49377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3108960" cy="31089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574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공공 공간정보 사업 기획 사례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 공간정보 API 기반 소상공인 창업 판단 서비스 기획 · 검증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3703320"/>
            <a:ext cx="1371600" cy="320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069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㈜에스지앤아이  공간정보 사업 제안 및 기획 부문 지원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F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제가링  ·  jegalhb@gmail.com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 사례를 말씀드리는가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공고의 담당업무 네 가지를 한 프로젝트에서 모두 수행했습니다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64792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공공기관·지자체 대상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공간정보 사업 제안 기획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97880" y="2057400"/>
            <a:ext cx="384048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6446520" y="169164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764792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과기정통부·NIA 「모두의 AI 실험실」 사업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서비스 기획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51206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35224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제안요청서(RFP) 분석 및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대응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3227832"/>
            <a:ext cx="384048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2862072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935224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공고·운영구조 분석 → 심사 관점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질문 도출 및 방어 논리 수립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51206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05656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제안서·사업계획서 등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제반 문서 작성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97880" y="4398264"/>
            <a:ext cx="384048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4032504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105656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시장분석·경쟁분석·설계·리스크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문서 작성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02936"/>
            <a:ext cx="51206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7608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관리 (SI, R&amp;D)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97880" y="5568696"/>
            <a:ext cx="384048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5202936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527608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계층 10종 실현가능성 검증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우선순위 관리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대상 사업 이해 — RFP 분석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8월 3일 출범, 과기정통부 주관 · 한국지능정보사회진흥원(NIA) 운영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99,000건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가능 공공·민간 데이터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65576" y="16916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13,000건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02736" y="2450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개방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200팀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28232" y="2450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사업화 연계 선정 규모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16568" y="16916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3728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5개 권역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53728" y="2450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실증 거점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분석에서 도출한 사업의 성격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10899648" cy="2331720"/>
          </a:xfrm>
          <a:prstGeom prst="roundRect">
            <a:avLst>
              <a:gd name="adj" fmla="val 2353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050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977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기준은 코드가 아니라 문제 정의다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60720" y="39776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운영기관이 “좋은 질문을 던져야 자원을 효율적으로 쓴다”고 명시 — 아이디어의 해상도가 평가 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6908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663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실증이 사업화 관문이다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60720" y="46634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주민 대상 5분 시연에서 반응이 나와야 함 → 설명이 길어야 이해되는 아이디어는 탈락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53766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349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규모가 3만 명이다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760720" y="53492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흔한 주제는 변별력이 없음 → 남이 보지 않는 각도를 찾아야 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 프로세스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아이디어에서 시작하지 않고, 데이터가 존재하는지부터 확인하며 좁혀 나갔습니다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065A82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구조 분석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축 도출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24912" y="3127248"/>
            <a:ext cx="219456" cy="201168"/>
          </a:xfrm>
          <a:prstGeom prst="rightArrow">
            <a:avLst/>
          </a:prstGeom>
          <a:solidFill>
            <a:srgbClr val="6E93AC"/>
          </a:solidFill>
          <a:ln/>
        </p:spPr>
      </p:sp>
      <p:sp>
        <p:nvSpPr>
          <p:cNvPr id="9" name="Shape 7"/>
          <p:cNvSpPr/>
          <p:nvPr/>
        </p:nvSpPr>
        <p:spPr>
          <a:xfrm>
            <a:off x="2871216" y="21031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065A82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08376" y="2880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영역 탐색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08376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후보 비교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56048" y="3127248"/>
            <a:ext cx="219456" cy="201168"/>
          </a:xfrm>
          <a:prstGeom prst="rightArrow">
            <a:avLst/>
          </a:prstGeom>
          <a:solidFill>
            <a:srgbClr val="6E93A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21031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065A82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39512" y="2880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서비스 실측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9512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 직접 사용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87184" y="3127248"/>
            <a:ext cx="219456" cy="201168"/>
          </a:xfrm>
          <a:prstGeom prst="rightArrow">
            <a:avLst/>
          </a:prstGeom>
          <a:solidFill>
            <a:srgbClr val="6E93A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33488" y="21031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02C39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70648" y="2880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실현가능성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0648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10계층 검증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18320" y="3127248"/>
            <a:ext cx="219456" cy="201168"/>
          </a:xfrm>
          <a:prstGeom prst="rightArrow">
            <a:avLst/>
          </a:prstGeom>
          <a:solidFill>
            <a:srgbClr val="6E93AC"/>
          </a:solidFill>
          <a:ln/>
        </p:spPr>
      </p:sp>
      <p:sp>
        <p:nvSpPr>
          <p:cNvPr id="24" name="Shape 22"/>
          <p:cNvSpPr/>
          <p:nvPr/>
        </p:nvSpPr>
        <p:spPr>
          <a:xfrm>
            <a:off x="9564624" y="210312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065A82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01784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01784" y="2880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및 리스크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01784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확정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많은 시간을 쓴 단계는 04입니다. 아이디어의 우열보다 데이터가 실제로 존재하는지가 사업의 성패를 가른다고 판단했습니다.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정의 — 정보는 있는데 흩어져 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창업자가 점포 하나를 계약하기 위해 확인해야 하는 정보와 소관 기관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65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토지 · 용도지역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231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국토교통부  ·  토지이음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2856" y="1865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건축물 용도 · 정화조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62856" y="2231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국토교통부  ·  건축HUB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8653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인허가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84464" y="2231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행정안전부  ·  인허가 원장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099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· 매출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4655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중소벤처기업부  ·  소상공인365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1688" y="297180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3099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영업시간 제한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62856" y="34655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자치구  ·  조례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83296" y="2971800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3099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폐업 절차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4464" y="34655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국세청 · 자치구  ·  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899648" cy="160020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6634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여섯 가지를 모두 봐야 판단이 서는데, 소관 부처가 전부 다릅니다.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51206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부처는 구조적으로 남의 데이터를 자기 서비스에 넣을 수 없습니다. 국가가 API를 개방한 이유가 여기에 있고, 이 결합은 민간만 할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경쟁 분석 — 자료가 아니라 서비스를 직접 열었습니다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관악구 봉천동 1570-1 필지로 기존 서비스를 실제 조회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당초 가설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“토지이음은 토지규제 중심이라 업종 인허가는 판정하지 않는다”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자료만 보고 세운 가설이었습니다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0488" y="169164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조회 결과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19088" y="221284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건축법 별표1 전체 용도에 대해 가능·불가를 표로 제공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제3종일반주거지역 · 일반음식점 가능 / 단란주점 불가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19088" y="3200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가설이 틀렸습니다. 용도지역 판정은 이미 완결적입니다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99648" cy="2011680"/>
          </a:xfrm>
          <a:prstGeom prst="roundRect">
            <a:avLst>
              <a:gd name="adj" fmla="val 2727"/>
            </a:avLst>
          </a:prstGeom>
          <a:solidFill>
            <a:srgbClr val="21295C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793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확인이 제안의 방향을 바꿨습니다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7091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서비스를 직접 쓰지 않았다면 “이미 되는 기능”을 차별점으로 제안할 뻔했습니다. 국토교통부가 AI 통합인허가 사전진단을 2027년 전국 개통 목표로 개발 중이라는 사실도 이 과정에서 확인해, 중복 영역을 제안 범위에서 제외했습니다.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차별화 도출 — 남는 빈틈을 특정했습니다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필지에 대해 기존 서비스가 답하지 못하는 항목만 추렸습니다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99648" cy="566928"/>
          </a:xfrm>
          <a:prstGeom prst="roundRect">
            <a:avLst>
              <a:gd name="adj" fmla="val 9677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용도지역 · 행위가능여부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17830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38160" y="1856232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5C6B7A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18562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재구현 불필요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414016"/>
            <a:ext cx="10899648" cy="566928"/>
          </a:xfrm>
          <a:prstGeom prst="roundRect">
            <a:avLst>
              <a:gd name="adj" fmla="val 9677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5973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건폐율 · 용적률 · 건축선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4597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532888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5C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5328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재구현 불필요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90672"/>
            <a:ext cx="108996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3639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건물 층별 용도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1363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3209544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108996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1304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오수정화시설 용량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38130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388620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3886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443984"/>
            <a:ext cx="108996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8970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· 유동인구 · 생존율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44897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4562856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4562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108996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6636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자치구 조례 · 폐업 절차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0" y="51663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5239512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5239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— 차별점은 “판정”이 아니라 “번역과 결합”입니다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공간정보 데이터 검증 ① — 좌표계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인허가 원장 좌표계: 보정계수 미적용 Bessel 중부원점TM (EPSG:5174)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47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변환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TOWGS84 적용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65576" y="169164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5304" y="1847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 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75304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원점경도 오인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lon₀=127.0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47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363 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0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shift 미적용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16568" y="169164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6296" y="1847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100.5 km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26296" y="2578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EPSG:5186 오인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0899648" cy="2286000"/>
          </a:xfrm>
          <a:prstGeom prst="roundRect">
            <a:avLst>
              <a:gd name="adj" fmla="val 2400"/>
            </a:avLst>
          </a:prstGeom>
          <a:solidFill>
            <a:srgbClr val="21295C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776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위험한 값은 100 km가 아니라 363 m였습니다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44805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km 오차는 결과가 명백히 이상해 즉시 발견됩니다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m는 반경 300 m 검색보다 커서 집계 대상이 통째로 바뀝니다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점포 밀도가 균일한 서울에서는 “반경 300 m 내 11곳” 같은 그럴듯한 숫자가 나옵니다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오류 신호가 화면에 나타나지 않는 유형이라 판단하고, 변환 검증을 착수 전 필수 절차로 지정했습니다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공간정보 데이터 검증 ② — API 계층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구현에 필요한 데이터 10계층을 확보 가능성으로 분류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확보 가능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6916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6계층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건축HUB 건축물대장(10개 엔드포인트)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인허가 원장 · 소상공인 상가정보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상권분석 · 브이월드 지오코딩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토지이용계획정보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4747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169164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D9762B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691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4808" y="16916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2계층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514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자치법규 API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별표는 본문 응답에 미포함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생존율 산출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승계·우측절단 보정 필요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4747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169164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1691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86416" y="16916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2계층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11896" y="25146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교육환경보호구역 절대/상대 구분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관할 교육지원청 확인 필수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폐업 절차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API 부재, 수작업 정리 필요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 2건을 숨기지 않고 “관할 기관 확인 필요”로 화면에 명시하는 설계를 택했습니다. 정확도가 곧 서비스 신뢰도라고 판단했습니다.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법령 요건의 구조화 — 실패 유형을 먼저 찾았습니다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자치법규 원문 2건(관악구 제1799호 · 중구 제1724호)으로 시험 후 유형화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9964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1901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대상 오판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06240" y="18745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일반음식점을 교육환경보호구역 규제 대상으로 판단했으나, 법 제9조 금지시설 29호에 미포함. 존재하지 않는 심의 절차를 안내할 뻔했습니다.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1089964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0156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밖의 요건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06240" y="3172968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중구 조례 제4조는 “별표 1의 시설기준을 준수”. 별표는 본문과 별도 제공이라 본문만 받으면 요건 추출이 0건인데, 응답은 정상으로 보입니다.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334256"/>
            <a:ext cx="1089964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700016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81328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자치구 간 일반화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06240" y="4471416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조례는 이름이 같지만 관악구에만 전용주거지역 규정이 있습니다. 한쪽 기준을 다른 구에 적용하면 반드시 틀립니다.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669280"/>
            <a:ext cx="10899648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806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유형 모두 “조문 해석”이 아니라 “무엇을 가져올 것인가”에서 발생했습니다 → 판정 책임을 설계에서 분리하기로 결정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아무도 계약 전에 알려주지 않는 항목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오수정화시설 용량 — 부족하면 영업신고 자체가 불가능합니다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2C3568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산정 근거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환경부고시 「건축물의 용도별 오수발생량 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정화조 처리대상인원 산정방법」 별표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계수 × 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968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사무소 · 소매점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39684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39684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· 일반음식점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4389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0.175A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26280" y="4389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8097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단란주점 · 유흥주점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0" y="48097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0.230A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26280" y="48097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영업장 100㎡ 기준 필요 처리대상인원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0488" y="228600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2C3568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사업적 의미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2788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2.25배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64808" y="35844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사무실 자리를 음식점으로 전환할 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정화조 요구량 증가폭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64808" y="4279392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정화조 10인용 건물에서는 57㎡ 넘는 음식점이 원칙적으로 불가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옥외 테라스 신고면적도 합산되어, 20㎡ 추가 시 4인이 더 필요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토지이음·소상공인365 모두 제공하지 않으며, 건축HUB API로 조회 가능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— AI에게 법 해석을 맡기지 않는 구조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앞서 확인한 실패 유형 세 가지를 계층 분리로 차단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93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계층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결정론적 · AI 미개입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737360"/>
            <a:ext cx="838504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847088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자치구코드 + 업종코드로 법규 조회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별표·서식 별도 수집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0건이면 “조례 없음” 명시 출력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10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계층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룰 엔진 · AI 미개입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3154680"/>
            <a:ext cx="838504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3264408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 × 규제 매핑 테이블을 사람이 검증해 고정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거리·면적·용량 판정은 코드로 계산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근거법령 시행일 컬럼으로 개정 추적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28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계층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230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4572000"/>
            <a:ext cx="838504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681728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업종어를 법령 용어로 번역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조문을 자연어로 설명 · 근거 인용 강제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판정을 변경할 권한 없음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6035040"/>
            <a:ext cx="10899648" cy="548640"/>
          </a:xfrm>
          <a:prstGeom prst="roundRect">
            <a:avLst>
              <a:gd name="adj" fmla="val 10000"/>
            </a:avLst>
          </a:prstGeom>
          <a:solidFill>
            <a:srgbClr val="EDF3F7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검색어를 만들고 조문을 구조화하고 결과를 설명합니다. 판정은 사람이 검증한 규칙이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 관리 — 자체 검증으로 발견한 오류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중간 산출물을 스스로 재검증해 8건을 사전에 정정했습니다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1266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47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LOCALDATA 포털 폐쇄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1579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2026.4.16 종료를 모른 채 현행 포털로 인용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제안서 신뢰도 훼손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27064" y="1737360"/>
            <a:ext cx="531266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847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좌표계 해석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55664" y="21579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shift 미적용 시 363m 오차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55664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반경 집계 전면 오류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31266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18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교육환경보호구역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5295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불가로 단정 → 실제로는 저촉 여부 확인 가능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기능 과소 설계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3108960"/>
            <a:ext cx="531266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3218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갱신 주기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55664" y="35295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지표는 분기가 아닌 연 1회, 최대 20개월 지연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55664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시점 오인 유발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531266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90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서비스 평가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49011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토지이음 기능을 자료만 보고 과소평가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5303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중복 기능 제안 위험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27064" y="4480560"/>
            <a:ext cx="531266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590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폐업 절차 구분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55664" y="49011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국세청 등록말소와 자치구 영업 폐업신고를 미구분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55664" y="5303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절차 안내 오류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단계에서 잡으면 정정이지만, 실행 단계에서 드러나면 사업 리스크가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공고 핵심역량과의 대응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다섯 가지 역량을 이 프로젝트의 어느 국면에서 발휘했는지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965960" cy="73152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737360"/>
            <a:ext cx="879652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737360"/>
            <a:ext cx="8275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확보 가능성을 기준으로 검증 순서를 정하고, 실패 시 프로젝트가 무너지는 항목부터 착수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965960" cy="73152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33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성실성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633472"/>
            <a:ext cx="879652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633472"/>
            <a:ext cx="8275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산출물을 재검증해 오류 8건을 스스로 발견·정정. 원문 대조를 원칙으로 수행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965960" cy="73152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958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3529584"/>
            <a:ext cx="879652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529584"/>
            <a:ext cx="8275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오수정화시설이라는 비주목 항목에서 차별점 도출. 기존 서비스가 다루지 않는 영역을 특정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965960" cy="73152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2569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스트레스관리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4425696"/>
            <a:ext cx="879652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4425696"/>
            <a:ext cx="8275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가설이 무너진 시점에 방향을 폐기하지 않고 포지셔닝을 재설계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965960" cy="73152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2180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성장지향성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5321808"/>
            <a:ext cx="879652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6E2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5321808"/>
            <a:ext cx="8275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좌표계·건축법·하수도법 등 미숙지 영역을 원문 단위로 학습해 판정 기준까지 도출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입사 후 기여하고 싶은 지점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1115568"/>
          </a:xfrm>
          <a:prstGeom prst="roundRect">
            <a:avLst>
              <a:gd name="adj" fmla="val 4918"/>
            </a:avLst>
          </a:prstGeom>
          <a:solidFill>
            <a:srgbClr val="2C3568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0574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공간정보 사업 제안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0600" y="18288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 공간정보 API 생태계(브이월드·토지이음·건축HUB·인허가 원장)를 직접 다뤄 본 경험으로 제안서의 데이터 실현가능성 항목을 구체적으로 작성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990088"/>
            <a:ext cx="10515600" cy="1115568"/>
          </a:xfrm>
          <a:prstGeom prst="roundRect">
            <a:avLst>
              <a:gd name="adj" fmla="val 4918"/>
            </a:avLst>
          </a:prstGeom>
          <a:solidFill>
            <a:srgbClr val="2C3568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35584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127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분석 · 요구사항 대응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0600" y="3127248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 문서에서 평가 축을 도출하고 예상 질문에 대한 방어 논리를 사전 준비한 경험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288536"/>
            <a:ext cx="10515600" cy="1115568"/>
          </a:xfrm>
          <a:prstGeom prst="roundRect">
            <a:avLst>
              <a:gd name="adj" fmla="val 4918"/>
            </a:avLst>
          </a:prstGeom>
          <a:solidFill>
            <a:srgbClr val="2C356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465429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442569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디지털트윈 · 항공측량 연계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0600" y="4425696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좌표계 정합성과 건축물대장 속성 결합을 실제로 검증해 본 경험은 공간 데이터 품질 검증 업무와 직접 맞닿아 있습니다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" y="5806440"/>
            <a:ext cx="1371600" cy="320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6108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제가링  ·  jegalhb@gmail.com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2026-08-09T10:25:51Z</dcterms:created>
  <dcterms:modified xsi:type="dcterms:W3CDTF">2026-08-09T10:25:51Z</dcterms:modified>
</cp:coreProperties>
</file>